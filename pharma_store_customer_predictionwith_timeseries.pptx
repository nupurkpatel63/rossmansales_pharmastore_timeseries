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6F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372FA-B798-4E77-8123-6D6C3832740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148152-7C1E-41A0-A006-5649D3A64E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18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48152-7C1E-41A0-A006-5649D3A64E9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987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19" y="2342079"/>
            <a:ext cx="10635176" cy="25853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800" b="1">
                <a:solidFill>
                  <a:srgbClr val="1F3864"/>
                </a:solidFill>
              </a:defRPr>
            </a:pPr>
            <a:r>
              <a:rPr sz="5400" dirty="0" err="1"/>
              <a:t>Rossmann</a:t>
            </a:r>
            <a:r>
              <a:rPr sz="5400" dirty="0"/>
              <a:t> </a:t>
            </a:r>
            <a:r>
              <a:rPr lang="en-GB" sz="5400" dirty="0"/>
              <a:t>Pharmaceutical </a:t>
            </a:r>
            <a:r>
              <a:rPr sz="5400" dirty="0"/>
              <a:t>Store Sales</a:t>
            </a:r>
            <a:r>
              <a:rPr lang="en-GB" sz="5400" dirty="0"/>
              <a:t> and Customer Prediction with Time Series  </a:t>
            </a:r>
            <a:endParaRPr sz="5400" dirty="0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BE3D-8467-4097-B551-35635638D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10427677" cy="1470025"/>
          </a:xfrm>
        </p:spPr>
        <p:txBody>
          <a:bodyPr anchor="t" anchorCtr="1">
            <a:normAutofit/>
          </a:bodyPr>
          <a:lstStyle/>
          <a:p>
            <a:pPr algn="just"/>
            <a:r>
              <a:rPr lang="en-GB" sz="3600" b="1" spc="-150" dirty="0">
                <a:solidFill>
                  <a:schemeClr val="accent1">
                    <a:lumMod val="50000"/>
                  </a:schemeClr>
                </a:solidFill>
              </a:rPr>
              <a:t>Exploration of Customer Purchasing Behaviour(EDA)</a:t>
            </a:r>
            <a:br>
              <a:rPr lang="en-GB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4B994-32F4-4257-B1DD-E93F74D49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601200" cy="1752600"/>
          </a:xfrm>
        </p:spPr>
        <p:txBody>
          <a:bodyPr>
            <a:normAutofit/>
          </a:bodyPr>
          <a:lstStyle/>
          <a:p>
            <a:pPr algn="l"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GB" dirty="0"/>
              <a:t>Objective: understand sales, customer traffic, promotions, seasonality and competition.</a:t>
            </a:r>
          </a:p>
          <a:p>
            <a:pPr algn="l"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GB" dirty="0"/>
              <a:t>Approach: data cleaning → feature engineering → exploratory analysis → business insights.</a:t>
            </a:r>
          </a:p>
          <a:p>
            <a:pPr algn="l"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rPr lang="en-GB" dirty="0"/>
              <a:t>Datasets: Store, Train and Test merged using Store as the key.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59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880" y="576072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Data Cleaning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0267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rPr dirty="0"/>
              <a:t>Preparing reliable data before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4732"/>
            <a:ext cx="10835640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dirty="0"/>
              <a:t>Merged store.csv with train.csv and test.csv using the Store column.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dirty="0"/>
              <a:t>Removed the Id column because it is an identifier and not a predictive business feature.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dirty="0"/>
              <a:t>Handled missing values using business-aware strategies: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r>
              <a:rPr dirty="0" err="1"/>
              <a:t>CompetitionDistance</a:t>
            </a:r>
            <a:r>
              <a:rPr dirty="0"/>
              <a:t> → training-set median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r>
              <a:rPr dirty="0"/>
              <a:t>Competition opening month/year → 0 when information is unavailable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r>
              <a:rPr dirty="0"/>
              <a:t>Promo2 week/year → 0 and </a:t>
            </a:r>
            <a:r>
              <a:rPr dirty="0" err="1"/>
              <a:t>PromoInterval</a:t>
            </a:r>
            <a:r>
              <a:rPr dirty="0"/>
              <a:t> → 'None'</a:t>
            </a:r>
          </a:p>
          <a:p>
            <a:pPr marL="742950" lvl="1" indent="-285750">
              <a:spcAft>
                <a:spcPts val="500"/>
              </a:spcAft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</a:defRPr>
            </a:pPr>
            <a:r>
              <a:rPr dirty="0"/>
              <a:t>Missing Open values in test → training-set mode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dirty="0"/>
              <a:t>Checked duplicate records and data types; converted Date to datetime.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dirty="0"/>
              <a:t>Created Year, Month, Day, </a:t>
            </a:r>
            <a:r>
              <a:rPr dirty="0" err="1"/>
              <a:t>WeekOfYear</a:t>
            </a:r>
            <a:r>
              <a:rPr dirty="0"/>
              <a:t>, Quarter, </a:t>
            </a:r>
            <a:r>
              <a:rPr dirty="0" err="1"/>
              <a:t>IsWeekend</a:t>
            </a:r>
            <a:r>
              <a:rPr dirty="0"/>
              <a:t> and </a:t>
            </a:r>
            <a:r>
              <a:rPr dirty="0" err="1"/>
              <a:t>IsHoliday</a:t>
            </a:r>
            <a:r>
              <a:rPr dirty="0"/>
              <a:t> features.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 b="0">
                <a:solidFill>
                  <a:srgbClr val="232323"/>
                </a:solidFill>
              </a:defRPr>
            </a:pPr>
            <a:r>
              <a:rPr dirty="0"/>
              <a:t>Detected Sales and Customers outliers using the IQR method; genuine retail peaks were not blindly removed.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Customer &amp; Promotion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rPr dirty="0"/>
              <a:t>Key EDA questions: Do promotions increase sales and customer traffic?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291840" cy="2624328"/>
          </a:xfrm>
          <a:prstGeom prst="roundRect">
            <a:avLst/>
          </a:prstGeom>
          <a:solidFill>
            <a:srgbClr val="F2F6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472C4"/>
                </a:solidFill>
              </a:defRPr>
            </a:pPr>
            <a:r>
              <a:t>Sales ↔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3108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Strong positive relationship is expected: stores with more customer traffic generally generate higher sales.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2624328"/>
          </a:xfrm>
          <a:prstGeom prst="roundRect">
            <a:avLst/>
          </a:prstGeom>
          <a:solidFill>
            <a:srgbClr val="F2F6FC"/>
          </a:solidFill>
          <a:ln>
            <a:solidFill>
              <a:srgbClr val="46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468C5A"/>
                </a:solidFill>
              </a:defRPr>
            </a:pPr>
            <a:r>
              <a:t>Promo →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31720"/>
            <a:ext cx="30632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Compare average sales during Promo = 1 versus Promo = 0 to measure promotional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17320"/>
            <a:ext cx="3108960" cy="2624328"/>
          </a:xfrm>
          <a:prstGeom prst="roundRect">
            <a:avLst/>
          </a:prstGeom>
          <a:solidFill>
            <a:srgbClr val="F2F6FC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9" y="1645920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3864"/>
                </a:solidFill>
              </a:defRPr>
            </a:pPr>
            <a:r>
              <a:t>Promo →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331720"/>
            <a:ext cx="304800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t>Customer counts reveal whether promotions attract additional traffic, not just higher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4962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32323"/>
                </a:solidFill>
              </a:defRPr>
            </a:pPr>
            <a:r>
              <a:t>Business implication: evaluate promotions using both sales uplift and customer uplift.</a:t>
            </a:r>
          </a:p>
          <a:p>
            <a:pPr>
              <a:spcAft>
                <a:spcPts val="1000"/>
              </a:spcAft>
              <a:defRPr sz="1500" b="0">
                <a:solidFill>
                  <a:srgbClr val="232323"/>
                </a:solidFill>
              </a:defRPr>
            </a:pPr>
            <a:r>
              <a:t>Store-level promotional uplift can identify locations where campaigns are more effective.</a:t>
            </a:r>
          </a:p>
          <a:p>
            <a:pPr>
              <a:spcAft>
                <a:spcPts val="1000"/>
              </a:spcAft>
              <a:defRPr sz="1500" b="0">
                <a:solidFill>
                  <a:srgbClr val="232323"/>
                </a:solidFill>
              </a:defRPr>
            </a:pPr>
            <a:r>
              <a:t>Avoid applying one promotional strategy uniformly across all stores.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727" y="741857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Seasonality, Holidays &amp; Store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86509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rPr dirty="0"/>
              <a:t>Understanding when and under what conditions customers purchase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10662"/>
            <a:ext cx="1069848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Monthly sales analysis identifies seasonal purchasing patterns and peak-demand periods.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Holiday analysis compares sales around </a:t>
            </a:r>
            <a:r>
              <a:rPr dirty="0" err="1"/>
              <a:t>StateHoliday</a:t>
            </a:r>
            <a:r>
              <a:rPr dirty="0"/>
              <a:t> and </a:t>
            </a:r>
            <a:r>
              <a:rPr dirty="0" err="1"/>
              <a:t>SchoolHoliday</a:t>
            </a:r>
            <a:r>
              <a:rPr dirty="0"/>
              <a:t> periods.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Weekday versus weekend analysis highlights differences in customer traffic and sales.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Open versus closed analysis confirms that customer traffic is meaningful only when stores are operating.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Day-of-week analysis helps identify consistently strong and weak trading days.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Seasonal findings can guide inventory planning, staffing and promotion timing.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86400"/>
            <a:ext cx="10515600" cy="685800"/>
          </a:xfrm>
          <a:prstGeom prst="roundRect">
            <a:avLst/>
          </a:prstGeom>
          <a:solidFill>
            <a:srgbClr val="F2F6FC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5650992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3864"/>
                </a:solidFill>
              </a:defRPr>
            </a:pPr>
            <a:r>
              <a:t>Recommended plots: monthly sales line chart • holiday sales bar chart • weekday/weekend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007" y="975892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Store &amp; Competition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3727" y="16754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rPr dirty="0"/>
              <a:t>Identifying location and store characteristics that influence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08281"/>
            <a:ext cx="10698480" cy="2826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323"/>
                </a:solidFill>
              </a:defRPr>
            </a:pPr>
            <a:r>
              <a:rPr dirty="0"/>
              <a:t>Assortment analysis compares average sales and customer traffic across assortment types.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323"/>
                </a:solidFill>
              </a:defRPr>
            </a:pPr>
            <a:r>
              <a:rPr dirty="0" err="1"/>
              <a:t>CompetitionDistance</a:t>
            </a:r>
            <a:r>
              <a:rPr dirty="0"/>
              <a:t> is examined using scatter plots, correlation and distance bands.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323"/>
                </a:solidFill>
              </a:defRPr>
            </a:pPr>
            <a:r>
              <a:rPr dirty="0"/>
              <a:t>Short competitor distance does not automatically imply lower sales; store type, customer traffic and location context also matter.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323"/>
                </a:solidFill>
              </a:defRPr>
            </a:pPr>
            <a:r>
              <a:rPr dirty="0" err="1"/>
              <a:t>CompetitionOpenSinceMonth</a:t>
            </a:r>
            <a:r>
              <a:rPr dirty="0"/>
              <a:t>/Year can be used to study sales before and after a competitor opens.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323"/>
                </a:solidFill>
              </a:defRPr>
            </a:pPr>
            <a:r>
              <a:rPr dirty="0"/>
              <a:t>Store-level analysis helps identify high-performing stores and stores with strong promotional uplift.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 b="0">
                <a:solidFill>
                  <a:srgbClr val="232323"/>
                </a:solidFill>
              </a:defRPr>
            </a:pPr>
            <a:r>
              <a:rPr dirty="0"/>
              <a:t>For city-</a:t>
            </a:r>
            <a:r>
              <a:rPr dirty="0" err="1"/>
              <a:t>centre</a:t>
            </a:r>
            <a:r>
              <a:rPr dirty="0"/>
              <a:t> interpretation, competition distance should be treated as a proxy rather than a direct city-</a:t>
            </a:r>
            <a:r>
              <a:rPr dirty="0" err="1"/>
              <a:t>centre</a:t>
            </a:r>
            <a:r>
              <a:rPr dirty="0"/>
              <a:t> indicator.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056467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Business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5974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64"/>
                </a:solidFill>
              </a:defRPr>
            </a:pPr>
            <a:r>
              <a:rPr dirty="0"/>
              <a:t>Turning EDA findings into actionable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49059"/>
            <a:ext cx="105156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Use customer traffic as a key leading indicator of sales performance.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Target promotions toward stores with historically high promotional uplift.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Evaluate promotions on both sales and customer acquisition/traffic.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Plan inventory and staffing around seasonal, holiday and day-of-week demand patterns.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Consider store type, assortment and competitor proximity when designing local strategies.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Investigate competitor openings as potential changes in store performance rather than assuming a uniform effect.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32323"/>
                </a:solidFill>
              </a:defRPr>
            </a:pPr>
            <a:r>
              <a:rPr dirty="0"/>
              <a:t>Use store-level segmentation instead of a single strategy for every location.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02AC81-9ED0-4A66-AA63-73E5ED8D7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821572" cy="1470025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Store Sales Prediction</a:t>
            </a:r>
            <a:b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IN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98D90C4-63D3-4E07-A50C-C49A2E41C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9235440" cy="1752600"/>
          </a:xfrm>
        </p:spPr>
        <p:txBody>
          <a:bodyPr/>
          <a:lstStyle/>
          <a:p>
            <a:pPr algn="ctr">
              <a:defRPr sz="2400"/>
            </a:pPr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Findings, Model Comparison &amp; Business Insights</a:t>
            </a:r>
          </a:p>
          <a:p>
            <a:pPr algn="ctr">
              <a:defRPr sz="1600"/>
            </a:pPr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Machine Learning + LSTM time-series approach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B408FE-2BA2-4BB3-A6E0-E4AC8E8290D1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77863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8EA2-3F57-476C-B97E-E70378B81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4317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Executive Summary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CA1C0-552D-4CC4-BC82-7C00812DA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342587"/>
            <a:ext cx="10571871" cy="4525963"/>
          </a:xfrm>
        </p:spPr>
        <p:txBody>
          <a:bodyPr/>
          <a:lstStyle/>
          <a:p>
            <a:pPr>
              <a:spcAft>
                <a:spcPts val="900"/>
              </a:spcAft>
              <a:defRPr sz="1500"/>
            </a:pPr>
            <a:r>
              <a:rPr lang="en-GB" dirty="0"/>
              <a:t>The notebook builds an end-to-end daily store-sales forecasting pipeline: </a:t>
            </a:r>
            <a:r>
              <a:rPr lang="en-GB" dirty="0" err="1"/>
              <a:t>preprocessing</a:t>
            </a:r>
            <a:r>
              <a:rPr lang="en-GB" dirty="0"/>
              <a:t> → feature engineering → </a:t>
            </a:r>
            <a:r>
              <a:rPr lang="en-GB" dirty="0" err="1"/>
              <a:t>modeling</a:t>
            </a:r>
            <a:r>
              <a:rPr lang="en-GB" dirty="0"/>
              <a:t> → evaluation → serialization → </a:t>
            </a:r>
            <a:r>
              <a:rPr lang="en-GB" dirty="0" err="1"/>
              <a:t>MLflow</a:t>
            </a:r>
            <a:r>
              <a:rPr lang="en-GB" dirty="0"/>
              <a:t> tracking.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Random Forest is the strongest reported model, outperforming Gradient Boosting on MAE, RMSE and R².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Gradient Boosting provides the feature-importance and prediction-diagnostic analysis shown in the notebook.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The LSTM experiment captures a time-series workflow but performs substantially worse than the tree-based models on the reported validation results.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A separate Gradient Boosting customer model reports MAE 0.32, RMSE 0.64 and R² 1.00.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F7E9E3-4B88-4051-8464-60135B051DA5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53008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528B5-B312-456E-93C9-BAD8F8E92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9209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chemeClr val="tx2">
                    <a:lumMod val="50000"/>
                  </a:schemeClr>
                </a:solidFill>
              </a:rPr>
              <a:t>Objective &amp; Analytical Workflow</a:t>
            </a:r>
            <a:br>
              <a:rPr lang="en-IN" sz="2800" b="1" dirty="0">
                <a:solidFill>
                  <a:schemeClr val="tx2">
                    <a:lumMod val="50000"/>
                  </a:schemeClr>
                </a:solidFill>
              </a:rPr>
            </a:br>
            <a:endParaRPr lang="en-IN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225EA-95D9-4DC2-84D2-7FF04FB37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32037"/>
            <a:ext cx="10979834" cy="4525963"/>
          </a:xfrm>
        </p:spPr>
        <p:txBody>
          <a:bodyPr/>
          <a:lstStyle/>
          <a:p>
            <a:pPr>
              <a:spcAft>
                <a:spcPts val="900"/>
              </a:spcAft>
              <a:defRPr sz="1500"/>
            </a:pPr>
            <a:r>
              <a:rPr lang="en-GB" dirty="0"/>
              <a:t>Objective: predict daily sales across stores using machine-learning and deep-learning approaches.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Target variable: Sales.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Data is chronologically ordered; the notebook then creates an 80% / 20% train-validation split after sorting by Year, Month, Day and Store.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Primary metric: MAE because it is directly interpretable in sales units. RMSE captures larger errors and R² measures explained variance.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Two </a:t>
            </a:r>
            <a:r>
              <a:rPr lang="en-GB" dirty="0" err="1"/>
              <a:t>modeling</a:t>
            </a:r>
            <a:r>
              <a:rPr lang="en-GB" dirty="0"/>
              <a:t> families are evaluated: tree-based regression (Random Forest and Gradient Boosting) and a two-layer LSTM time-series model.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3BD849-293E-481D-B31A-52750E1D78F9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21109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7EAA-F965-4ACC-97F1-3640B48F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pPr algn="l">
              <a:defRPr sz="2800" b="1"/>
            </a:pPr>
            <a:r>
              <a:rPr lang="en-IN" dirty="0"/>
              <a:t>Data Preparation &amp;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74297-FF4B-4FE4-910E-BD8408EA8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99006"/>
            <a:ext cx="11134578" cy="4525963"/>
          </a:xfrm>
        </p:spPr>
        <p:txBody>
          <a:bodyPr/>
          <a:lstStyle/>
          <a:p>
            <a:pPr>
              <a:spcAft>
                <a:spcPts val="900"/>
              </a:spcAft>
              <a:defRPr sz="1500"/>
            </a:pPr>
            <a:r>
              <a:rPr lang="en-GB" dirty="0"/>
              <a:t>Numerical variables: median imputation followed by </a:t>
            </a:r>
            <a:r>
              <a:rPr lang="en-GB" dirty="0" err="1"/>
              <a:t>StandardScaler</a:t>
            </a:r>
            <a:r>
              <a:rPr lang="en-GB" dirty="0"/>
              <a:t>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Categorical variables: most-frequent imputation followed by </a:t>
            </a:r>
            <a:r>
              <a:rPr lang="en-GB" dirty="0" err="1"/>
              <a:t>OneHotEncoder</a:t>
            </a:r>
            <a:r>
              <a:rPr lang="en-GB" dirty="0"/>
              <a:t>(</a:t>
            </a:r>
            <a:r>
              <a:rPr lang="en-GB" dirty="0" err="1"/>
              <a:t>handle_unknown</a:t>
            </a:r>
            <a:r>
              <a:rPr lang="en-GB" dirty="0"/>
              <a:t>='ignore').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Date features: day of week, weekend, year, month, day, week of year, quarter, month period, month-start and month-end.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Holiday features: state-holiday and school-holiday indicators plus days-to-holiday and days-after-holiday.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Competition features: opening date, competition age in months, distance bands and competition period.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Final </a:t>
            </a:r>
            <a:r>
              <a:rPr lang="en-GB" dirty="0" err="1"/>
              <a:t>preprocessing</a:t>
            </a:r>
            <a:r>
              <a:rPr lang="en-GB" dirty="0"/>
              <a:t> uses a Scikit-learn </a:t>
            </a:r>
            <a:r>
              <a:rPr lang="en-GB" dirty="0" err="1"/>
              <a:t>ColumnTransformer</a:t>
            </a:r>
            <a:r>
              <a:rPr lang="en-GB" dirty="0"/>
              <a:t> inside the model pipeline.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ADBD9-F7BB-4410-8E03-7130640225D2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12394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A4ACE5-6FAC-4529-8E3B-F5FA299BF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593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IN" sz="3100" b="1" dirty="0">
                <a:solidFill>
                  <a:schemeClr val="tx2">
                    <a:lumMod val="50000"/>
                  </a:schemeClr>
                </a:solidFill>
              </a:rPr>
              <a:t>Model Performance Comparison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 descr="r2_comparison.png">
            <a:extLst>
              <a:ext uri="{FF2B5EF4-FFF2-40B4-BE49-F238E27FC236}">
                <a16:creationId xmlns:a16="http://schemas.microsoft.com/office/drawing/2014/main" id="{3E092F73-DD4A-4FBF-9750-161FA3305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681" y="1724619"/>
            <a:ext cx="5280341" cy="2777044"/>
          </a:xfrm>
          <a:prstGeom prst="rect">
            <a:avLst/>
          </a:prstGeom>
        </p:spPr>
      </p:pic>
      <p:pic>
        <p:nvPicPr>
          <p:cNvPr id="7" name="Picture 6" descr="mae_comparison.png">
            <a:extLst>
              <a:ext uri="{FF2B5EF4-FFF2-40B4-BE49-F238E27FC236}">
                <a16:creationId xmlns:a16="http://schemas.microsoft.com/office/drawing/2014/main" id="{302DDBC1-B667-4395-B9D2-B6368B173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24620"/>
            <a:ext cx="5173394" cy="272079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90422C-3F91-4CFA-ABE8-6B820A7116A8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5166360"/>
          <a:ext cx="813816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353.60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574.03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0.9779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603.92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897.64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0.9460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1,725,982.88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2,583,624.38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0.3642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C6EA380-AEDD-4838-97A6-C00EF5ECFA8A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42926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533C-272A-4A91-AA70-E0AEB43A5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48361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IN" sz="3100" b="1" dirty="0">
                <a:solidFill>
                  <a:schemeClr val="tx2">
                    <a:lumMod val="50000"/>
                  </a:schemeClr>
                </a:solidFill>
              </a:rPr>
              <a:t>Why Random Forest Wins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C2695-26CE-4CA2-8F6F-FEADE81B9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91361"/>
            <a:ext cx="8229600" cy="4525963"/>
          </a:xfrm>
        </p:spPr>
        <p:txBody>
          <a:bodyPr/>
          <a:lstStyle/>
          <a:p>
            <a:pPr>
              <a:spcAft>
                <a:spcPts val="900"/>
              </a:spcAft>
              <a:defRPr sz="1500"/>
            </a:pPr>
            <a:r>
              <a:rPr lang="en-GB" dirty="0"/>
              <a:t>Lowest reported MAE: 353.60, indicating the smallest average absolute sales error.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Lowest reported RMSE: 574.03, indicating fewer / smaller large errors than the alternatives.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R² = 0.9779, meaning the model explains about 97.8% of validation variance according to the notebook's metric.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Gradient Boosting is still strong (R² 0.9460) but is weaker than Random Forest across all three reported metrics.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LSTM is not competitive in this implementation, with R² only 0.3642.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6E2D4C-F73A-4B21-B8EC-D194DA046242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6912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DA71-4390-4D09-9D4D-97C4051F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06783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IN" sz="3100" b="1" dirty="0">
                <a:solidFill>
                  <a:schemeClr val="tx2">
                    <a:lumMod val="50000"/>
                  </a:schemeClr>
                </a:solidFill>
              </a:rPr>
              <a:t>Feature Importance Findings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 descr="feature_importance.png">
            <a:extLst>
              <a:ext uri="{FF2B5EF4-FFF2-40B4-BE49-F238E27FC236}">
                <a16:creationId xmlns:a16="http://schemas.microsoft.com/office/drawing/2014/main" id="{81F27C74-993C-42B3-A1FF-86B22A052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727" y="2261382"/>
            <a:ext cx="6518661" cy="37173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1A472A-552D-4D63-B590-93E91D645236}"/>
              </a:ext>
            </a:extLst>
          </p:cNvPr>
          <p:cNvSpPr txBox="1"/>
          <p:nvPr/>
        </p:nvSpPr>
        <p:spPr>
          <a:xfrm>
            <a:off x="7695028" y="2169021"/>
            <a:ext cx="3756074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/>
            </a:pPr>
            <a:r>
              <a:rPr lang="en-GB" dirty="0"/>
              <a:t>Customers dominates the Gradient Boosting importance ranking at ≈ 0.8945.</a:t>
            </a:r>
          </a:p>
          <a:p>
            <a:pPr>
              <a:spcAft>
                <a:spcPts val="900"/>
              </a:spcAft>
              <a:defRPr sz="1300"/>
            </a:pPr>
            <a:r>
              <a:rPr lang="en-GB" dirty="0" err="1"/>
              <a:t>StoreType_d</a:t>
            </a:r>
            <a:r>
              <a:rPr lang="en-GB" dirty="0"/>
              <a:t>, Promo and </a:t>
            </a:r>
            <a:r>
              <a:rPr lang="en-GB" dirty="0" err="1"/>
              <a:t>CompetitionDistance</a:t>
            </a:r>
            <a:r>
              <a:rPr lang="en-GB" dirty="0"/>
              <a:t> are the next largest contributors.</a:t>
            </a:r>
          </a:p>
          <a:p>
            <a:pPr>
              <a:spcAft>
                <a:spcPts val="900"/>
              </a:spcAft>
              <a:defRPr sz="1300"/>
            </a:pPr>
            <a:r>
              <a:rPr lang="en-GB" dirty="0" err="1"/>
              <a:t>WeekOfYear</a:t>
            </a:r>
            <a:r>
              <a:rPr lang="en-GB" dirty="0"/>
              <a:t>, </a:t>
            </a:r>
            <a:r>
              <a:rPr lang="en-GB" dirty="0" err="1"/>
              <a:t>DayOfWeek</a:t>
            </a:r>
            <a:r>
              <a:rPr lang="en-GB" dirty="0"/>
              <a:t> and Store provide additional temporal and store-level signal.</a:t>
            </a:r>
          </a:p>
          <a:p>
            <a:pPr>
              <a:spcAft>
                <a:spcPts val="900"/>
              </a:spcAft>
              <a:defRPr sz="1300"/>
            </a:pPr>
            <a:r>
              <a:rPr lang="en-GB" dirty="0"/>
              <a:t>The reported model therefore relies heavily on observed customer traffic plus promotion, store and competition context.</a:t>
            </a:r>
          </a:p>
          <a:p>
            <a:pPr>
              <a:spcAft>
                <a:spcPts val="900"/>
              </a:spcAft>
              <a:defRPr sz="1300"/>
            </a:pPr>
            <a:r>
              <a:rPr lang="en-GB" dirty="0"/>
              <a:t>Feature importance indicates predictive contribution, not causation.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E2D8A-76B7-4230-AF59-C985C639E5A2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80474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85B2-C415-41D7-8224-8C0D4C368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3745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IN" sz="3100" b="1" dirty="0">
                <a:solidFill>
                  <a:schemeClr val="tx2">
                    <a:lumMod val="50000"/>
                  </a:schemeClr>
                </a:solidFill>
              </a:rPr>
              <a:t>Prediction Diagnostics — Gradient Boosting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 descr="cell_43_0.png">
            <a:extLst>
              <a:ext uri="{FF2B5EF4-FFF2-40B4-BE49-F238E27FC236}">
                <a16:creationId xmlns:a16="http://schemas.microsoft.com/office/drawing/2014/main" id="{50177537-6BD8-48A2-908D-5DBF24A2F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1" y="1246701"/>
            <a:ext cx="5516881" cy="3476652"/>
          </a:xfrm>
          <a:prstGeom prst="rect">
            <a:avLst/>
          </a:prstGeom>
        </p:spPr>
      </p:pic>
      <p:pic>
        <p:nvPicPr>
          <p:cNvPr id="5" name="Picture 4" descr="cell_44_0.png">
            <a:extLst>
              <a:ext uri="{FF2B5EF4-FFF2-40B4-BE49-F238E27FC236}">
                <a16:creationId xmlns:a16="http://schemas.microsoft.com/office/drawing/2014/main" id="{7AEEC49A-96CC-41CF-A99A-1FEA0DF16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1247495"/>
            <a:ext cx="5683349" cy="3476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B98FD-C7E3-4F49-A29D-8442DE0DBABD}"/>
              </a:ext>
            </a:extLst>
          </p:cNvPr>
          <p:cNvSpPr txBox="1"/>
          <p:nvPr/>
        </p:nvSpPr>
        <p:spPr>
          <a:xfrm>
            <a:off x="457200" y="5241529"/>
            <a:ext cx="113315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100"/>
            </a:pPr>
            <a:r>
              <a:rPr lang="en-GB" sz="1300" dirty="0"/>
              <a:t>The notebook compares actual sales with Gradient Boosting predictions and visualizes prediction-error distribution.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100"/>
            </a:pPr>
            <a:r>
              <a:rPr lang="en-GB" sz="1300" dirty="0"/>
              <a:t>These diagnostics are specifically for Gradient Boosting, not the best-performing Random Forest.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100"/>
            </a:pPr>
            <a:r>
              <a:rPr lang="en-GB" sz="1300" dirty="0"/>
              <a:t>Example prediction intervals are estimated empirically from validation residuals.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B79B6E-49DE-4162-8730-06504D49F15E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06690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D4E4C-1A60-4AB6-9D03-9F841F2BD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38" y="682601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IN" sz="3100" b="1" dirty="0">
                <a:solidFill>
                  <a:schemeClr val="tx2">
                    <a:lumMod val="50000"/>
                  </a:schemeClr>
                </a:solidFill>
              </a:rPr>
              <a:t>Time-Series &amp; LSTM Findings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 descr="lstm_training.png">
            <a:extLst>
              <a:ext uri="{FF2B5EF4-FFF2-40B4-BE49-F238E27FC236}">
                <a16:creationId xmlns:a16="http://schemas.microsoft.com/office/drawing/2014/main" id="{428289D1-1F50-4D28-942E-DCA9543FC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738" y="1932521"/>
            <a:ext cx="7344090" cy="3857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698277-8874-4B3F-A7E7-164EE7DC550D}"/>
              </a:ext>
            </a:extLst>
          </p:cNvPr>
          <p:cNvSpPr txBox="1"/>
          <p:nvPr/>
        </p:nvSpPr>
        <p:spPr>
          <a:xfrm>
            <a:off x="8356208" y="1936461"/>
            <a:ext cx="3512989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  <a:defRPr sz="1200"/>
            </a:pPr>
            <a:r>
              <a:rPr lang="en-GB" sz="1300" dirty="0"/>
              <a:t>Daily sales were aggregated by date and examined with ADF, ACF and PACF analysis.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  <a:defRPr sz="1200"/>
            </a:pPr>
            <a:r>
              <a:rPr lang="en-GB" sz="1300" dirty="0"/>
              <a:t>The LSTM uses a 14-day sliding window and scaled time-series inputs.</a:t>
            </a:r>
          </a:p>
          <a:p>
            <a:pPr marL="171450" indent="-171450">
              <a:spcAft>
                <a:spcPts val="900"/>
              </a:spcAft>
              <a:buFont typeface="Arial" panose="020B0604020202020204" pitchFamily="34" charset="0"/>
              <a:buChar char="•"/>
              <a:defRPr sz="1200"/>
            </a:pPr>
            <a:r>
              <a:rPr lang="en-GB" sz="1300" dirty="0"/>
              <a:t>Despite the time-series workflow, the reported LSTM performance is far below the tree-based models.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FCBA6-EDBD-4BB0-924B-38C52E7AC606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07470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5ED3-5BC7-4481-8AA0-0BCDEB3E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802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IN" sz="3100" b="1" dirty="0">
                <a:solidFill>
                  <a:schemeClr val="tx2">
                    <a:lumMod val="50000"/>
                  </a:schemeClr>
                </a:solidFill>
              </a:rPr>
              <a:t>Deployment, Tracking &amp; Customer Forecasting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38B68-9A23-4865-B31B-EACC77222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21022"/>
            <a:ext cx="11317458" cy="3436034"/>
          </a:xfrm>
        </p:spPr>
        <p:txBody>
          <a:bodyPr/>
          <a:lstStyle/>
          <a:p>
            <a:pPr>
              <a:spcAft>
                <a:spcPts val="900"/>
              </a:spcAft>
              <a:defRPr sz="1500"/>
            </a:pPr>
            <a:r>
              <a:rPr lang="en-GB" dirty="0"/>
              <a:t>Trained models are serialized as timestamp-based .</a:t>
            </a:r>
            <a:r>
              <a:rPr lang="en-GB" dirty="0" err="1"/>
              <a:t>pkl</a:t>
            </a:r>
            <a:r>
              <a:rPr lang="en-GB" dirty="0"/>
              <a:t> files for reuse and version tracking.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 err="1"/>
              <a:t>MLflow</a:t>
            </a:r>
            <a:r>
              <a:rPr lang="en-GB" dirty="0"/>
              <a:t> is incorporated to log model parameters, evaluation metrics and model artifacts, improving reproducibility.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A </a:t>
            </a:r>
            <a:r>
              <a:rPr lang="en-GB" dirty="0" err="1"/>
              <a:t>Rossmann</a:t>
            </a:r>
            <a:r>
              <a:rPr lang="en-GB" dirty="0"/>
              <a:t> predictions CSV is generated and copied to the project Google Drive location.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A separate Gradient Boosting customer model is trained using the same </a:t>
            </a:r>
            <a:r>
              <a:rPr lang="en-GB" dirty="0" err="1"/>
              <a:t>preprocessing</a:t>
            </a:r>
            <a:r>
              <a:rPr lang="en-GB" dirty="0"/>
              <a:t> pipeline.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Reported customer-model metrics: MAE 0.32, RMSE 0.64 and R² 1.00.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DB94B-97E5-4EEA-8C8A-C16A310A42AE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54286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6449-1081-4977-989F-7A7529CE9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chemeClr val="tx2">
                    <a:lumMod val="50000"/>
                  </a:schemeClr>
                </a:solidFill>
              </a:rPr>
              <a:t>Final Findings &amp; Recommendations</a:t>
            </a:r>
            <a:br>
              <a:rPr lang="en-IN" sz="2800" b="1" dirty="0">
                <a:solidFill>
                  <a:schemeClr val="tx2">
                    <a:lumMod val="50000"/>
                  </a:schemeClr>
                </a:solidFill>
              </a:rPr>
            </a:br>
            <a:endParaRPr lang="en-IN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8037-6ADD-463C-9040-C92024E3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32037"/>
            <a:ext cx="11148646" cy="4525963"/>
          </a:xfrm>
        </p:spPr>
        <p:txBody>
          <a:bodyPr/>
          <a:lstStyle/>
          <a:p>
            <a:pPr>
              <a:spcAft>
                <a:spcPts val="900"/>
              </a:spcAft>
              <a:defRPr sz="1500"/>
            </a:pPr>
            <a:r>
              <a:rPr lang="en-GB" dirty="0"/>
              <a:t>Recommended model from the notebook: Random Forest, based on MAE 353.60, RMSE 574.03 and R² 0.9779.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Customer count is the dominant predictive feature in the Gradient Boosting importance analysis; promotion, store type and competition add further signal.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The current LSTM implementation should not replace the tree model because its reported R² is only 0.3642.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For production, preserve the complete </a:t>
            </a:r>
            <a:r>
              <a:rPr lang="en-GB" dirty="0" err="1"/>
              <a:t>preprocessing</a:t>
            </a:r>
            <a:r>
              <a:rPr lang="en-GB" dirty="0"/>
              <a:t> pipeline with the model to prevent training/inference feature mismatch.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Validate the selected model on a strictly future holdout and monitor MAE/RMSE after deployment.</a:t>
            </a:r>
          </a:p>
          <a:p>
            <a:pPr>
              <a:spcAft>
                <a:spcPts val="900"/>
              </a:spcAft>
              <a:defRPr sz="1500"/>
            </a:pPr>
            <a:r>
              <a:rPr lang="en-GB" dirty="0"/>
              <a:t>The notebook establishes a complete workflow from </a:t>
            </a:r>
            <a:r>
              <a:rPr lang="en-GB" dirty="0" err="1"/>
              <a:t>preprocessing</a:t>
            </a:r>
            <a:r>
              <a:rPr lang="en-GB" dirty="0"/>
              <a:t> and forecasting through model persistence, experiment tracking and customer prediction.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3D5205-1829-4012-A3F4-98565914EF69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3294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25E914-E0A7-410E-B4E7-AA1F32A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511401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50000"/>
                  </a:schemeClr>
                </a:solidFill>
              </a:rPr>
              <a:t>Thank you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93C039-2DDD-4AE7-AD4D-B73A7BA6076A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3655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1392</Words>
  <Application>Microsoft Office PowerPoint</Application>
  <PresentationFormat>Widescreen</PresentationFormat>
  <Paragraphs>134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Exploration of Customer Purchasing Behaviour(EDA)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Store Sales Prediction </vt:lpstr>
      <vt:lpstr>Executive Summary </vt:lpstr>
      <vt:lpstr>Objective &amp; Analytical Workflow </vt:lpstr>
      <vt:lpstr>Data Preparation &amp; Feature Engineering</vt:lpstr>
      <vt:lpstr>Model Performance Comparison </vt:lpstr>
      <vt:lpstr>Why Random Forest Wins </vt:lpstr>
      <vt:lpstr>Feature Importance Findings </vt:lpstr>
      <vt:lpstr>Prediction Diagnostics — Gradient Boosting </vt:lpstr>
      <vt:lpstr>Time-Series &amp; LSTM Findings </vt:lpstr>
      <vt:lpstr>Deployment, Tracking &amp; Customer Forecasting </vt:lpstr>
      <vt:lpstr>Final Findings &amp; Recommendations 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8</cp:revision>
  <dcterms:created xsi:type="dcterms:W3CDTF">2013-01-27T09:14:16Z</dcterms:created>
  <dcterms:modified xsi:type="dcterms:W3CDTF">2026-09-15T12:27:23Z</dcterms:modified>
  <cp:category/>
</cp:coreProperties>
</file>